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2" r:id="rId4"/>
    <p:sldId id="258" r:id="rId5"/>
    <p:sldId id="259" r:id="rId6"/>
    <p:sldId id="264" r:id="rId7"/>
    <p:sldId id="260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D6E2"/>
    <a:srgbClr val="0F172A"/>
    <a:srgbClr val="1E1E1E"/>
    <a:srgbClr val="37BDF9"/>
    <a:srgbClr val="111823"/>
    <a:srgbClr val="1E69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5"/>
    <p:restoredTop sz="94610"/>
  </p:normalViewPr>
  <p:slideViewPr>
    <p:cSldViewPr snapToGrid="0" snapToObjects="1">
      <p:cViewPr>
        <p:scale>
          <a:sx n="120" d="100"/>
          <a:sy n="120" d="100"/>
        </p:scale>
        <p:origin x="112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7135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07FE8-B600-AAFA-0AA5-CCF72E01E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480DFA-0688-7E75-46B1-48819808CF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01C3D4-A0F1-54AE-DF7C-A73AF8ACAC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5D466-8203-7FFD-D1A1-03A1EEA27F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1129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4782A-94F7-5629-D6EE-47FC312CB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AAC7CF-577E-9FD0-2766-4DFEEE7D27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43A03D-ECC1-718F-7208-43997170C2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B115E2-7FDD-4D9D-2C86-C554BF5D5B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579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24" y="1352259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Оптимизация размещения клиник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3631721" y="2767606"/>
            <a:ext cx="188040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городе Северск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57378" y="3125678"/>
            <a:ext cx="142908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 Hackaton 2025</a:t>
            </a:r>
            <a:endParaRPr lang="en-US" sz="13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35AC44-A408-DCA3-6CD7-62A1581BE3B9}"/>
              </a:ext>
            </a:extLst>
          </p:cNvPr>
          <p:cNvSpPr txBox="1"/>
          <p:nvPr/>
        </p:nvSpPr>
        <p:spPr>
          <a:xfrm>
            <a:off x="5793897" y="4414119"/>
            <a:ext cx="32613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dirty="0">
                <a:solidFill>
                  <a:srgbClr val="CBD6E2"/>
                </a:solidFill>
              </a:rPr>
              <a:t>Участник – Гордиенко Дмитрий</a:t>
            </a:r>
          </a:p>
          <a:p>
            <a:pPr algn="r"/>
            <a:r>
              <a:rPr lang="ru-RU" dirty="0">
                <a:solidFill>
                  <a:srgbClr val="CBD6E2"/>
                </a:solidFill>
              </a:rPr>
              <a:t>Команда</a:t>
            </a:r>
            <a:r>
              <a:rPr lang="en-GB" dirty="0">
                <a:solidFill>
                  <a:srgbClr val="CBD6E2"/>
                </a:solidFill>
              </a:rPr>
              <a:t> - </a:t>
            </a:r>
            <a:r>
              <a:rPr lang="en-GB" dirty="0" err="1">
                <a:solidFill>
                  <a:srgbClr val="CBD6E2"/>
                </a:solidFill>
              </a:rPr>
              <a:t>Suetolog</a:t>
            </a:r>
            <a:endParaRPr lang="ru-RU" dirty="0">
              <a:solidFill>
                <a:srgbClr val="CBD6E2"/>
              </a:solidFill>
            </a:endParaRPr>
          </a:p>
        </p:txBody>
      </p:sp>
      <p:pic>
        <p:nvPicPr>
          <p:cNvPr id="10" name="Рисунок 9" descr="Изображение выглядит как круг, символ, График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616642D-93B9-F600-2057-5A8D67A37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42" y="4144214"/>
            <a:ext cx="828565" cy="82856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5724" y="503292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хакатона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7775"/>
            <a:ext cx="7620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30"/>
              </a:lnSpc>
              <a:buSzPct val="100000"/>
            </a:pPr>
            <a:endParaRPr lang="en-US" sz="1350" dirty="0">
              <a:solidFill>
                <a:srgbClr val="CBD6E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3B3A02-7861-9839-4E5F-0FFBC282A92B}"/>
              </a:ext>
            </a:extLst>
          </p:cNvPr>
          <p:cNvSpPr txBox="1"/>
          <p:nvPr/>
        </p:nvSpPr>
        <p:spPr>
          <a:xfrm>
            <a:off x="3211528" y="1899921"/>
            <a:ext cx="5425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Минимизировать</a:t>
            </a:r>
            <a:r>
              <a:rPr lang="en-US" dirty="0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</a:t>
            </a:r>
            <a:r>
              <a:rPr lang="en-US" dirty="0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пути</a:t>
            </a:r>
            <a:r>
              <a:rPr lang="en-US" dirty="0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</a:t>
            </a:r>
            <a:r>
              <a:rPr lang="en-US" dirty="0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дома</a:t>
            </a:r>
            <a:r>
              <a:rPr lang="en-US" dirty="0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</a:t>
            </a:r>
            <a:r>
              <a:rPr lang="en-US" dirty="0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клиники</a:t>
            </a:r>
            <a:endParaRPr lang="en-US" dirty="0">
              <a:solidFill>
                <a:srgbClr val="CBD6E2"/>
              </a:solidFill>
            </a:endParaRPr>
          </a:p>
          <a:p>
            <a:pPr algn="r"/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7646FC-6AA6-4F92-EE56-B2BE8120DE73}"/>
              </a:ext>
            </a:extLst>
          </p:cNvPr>
          <p:cNvSpPr txBox="1"/>
          <p:nvPr/>
        </p:nvSpPr>
        <p:spPr>
          <a:xfrm>
            <a:off x="408931" y="2642584"/>
            <a:ext cx="61241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Учитывать</a:t>
            </a:r>
            <a:r>
              <a:rPr lang="en-US" dirty="0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социальную</a:t>
            </a:r>
            <a:r>
              <a:rPr lang="en-US" dirty="0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инфраструктуру</a:t>
            </a:r>
            <a:r>
              <a:rPr lang="en-US" dirty="0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</a:t>
            </a:r>
            <a:r>
              <a:rPr lang="en-US" dirty="0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демографию</a:t>
            </a:r>
            <a:endParaRPr lang="en-US" dirty="0">
              <a:solidFill>
                <a:srgbClr val="CBD6E2"/>
              </a:solidFill>
            </a:endParaRPr>
          </a:p>
          <a:p>
            <a:pPr algn="ctr"/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3F5031-9D6F-3144-B066-4EEBBAB5747D}"/>
              </a:ext>
            </a:extLst>
          </p:cNvPr>
          <p:cNvSpPr txBox="1"/>
          <p:nvPr/>
        </p:nvSpPr>
        <p:spPr>
          <a:xfrm>
            <a:off x="3969748" y="3472049"/>
            <a:ext cx="46677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Оптимизировать</a:t>
            </a:r>
            <a:r>
              <a:rPr lang="en-US" dirty="0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распределение</a:t>
            </a:r>
            <a:r>
              <a:rPr lang="en-US" dirty="0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нагрузки</a:t>
            </a:r>
            <a:endParaRPr lang="en-US" dirty="0">
              <a:solidFill>
                <a:srgbClr val="CBD6E2"/>
              </a:solidFill>
            </a:endParaRPr>
          </a:p>
          <a:p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12B5C0-182F-672B-120F-B5920865B889}"/>
              </a:ext>
            </a:extLst>
          </p:cNvPr>
          <p:cNvSpPr txBox="1"/>
          <p:nvPr/>
        </p:nvSpPr>
        <p:spPr>
          <a:xfrm>
            <a:off x="408931" y="1263114"/>
            <a:ext cx="48379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Расположить</a:t>
            </a:r>
            <a:r>
              <a:rPr lang="en-US" dirty="0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 </a:t>
            </a:r>
            <a:r>
              <a:rPr lang="en-US" b="1" dirty="0" err="1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клиник</a:t>
            </a:r>
            <a:r>
              <a:rPr lang="en-US" dirty="0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</a:t>
            </a:r>
            <a:r>
              <a:rPr lang="en-US" dirty="0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городе</a:t>
            </a:r>
            <a:r>
              <a:rPr lang="en-US" dirty="0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Северск</a:t>
            </a:r>
            <a:endParaRPr lang="en-US" dirty="0">
              <a:solidFill>
                <a:srgbClr val="CBD6E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5B7E15-7EC4-BD8F-411D-26E37975811D}"/>
              </a:ext>
            </a:extLst>
          </p:cNvPr>
          <p:cNvSpPr txBox="1"/>
          <p:nvPr/>
        </p:nvSpPr>
        <p:spPr>
          <a:xfrm>
            <a:off x="408931" y="4182990"/>
            <a:ext cx="44538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Учитывать</a:t>
            </a:r>
            <a:r>
              <a:rPr lang="en-US" dirty="0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dirty="0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удобства и условия </a:t>
            </a:r>
            <a:r>
              <a:rPr lang="ru-RU" dirty="0" err="1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житилей</a:t>
            </a:r>
            <a:endParaRPr lang="en-US" dirty="0">
              <a:solidFill>
                <a:srgbClr val="CBD6E2"/>
              </a:solidFill>
            </a:endParaRPr>
          </a:p>
          <a:p>
            <a:endParaRPr lang="ru-RU" dirty="0"/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04F3E203-2D42-0857-CBC5-E616AE462E1C}"/>
              </a:ext>
            </a:extLst>
          </p:cNvPr>
          <p:cNvSpPr/>
          <p:nvPr/>
        </p:nvSpPr>
        <p:spPr>
          <a:xfrm>
            <a:off x="283293" y="1738248"/>
            <a:ext cx="8577414" cy="65341"/>
          </a:xfrm>
          <a:prstGeom prst="roundRect">
            <a:avLst/>
          </a:prstGeom>
          <a:solidFill>
            <a:srgbClr val="1E698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0753A9B1-129D-DAA9-FB16-8E9046A70A29}"/>
              </a:ext>
            </a:extLst>
          </p:cNvPr>
          <p:cNvSpPr/>
          <p:nvPr/>
        </p:nvSpPr>
        <p:spPr>
          <a:xfrm>
            <a:off x="283293" y="2424145"/>
            <a:ext cx="8577414" cy="65341"/>
          </a:xfrm>
          <a:prstGeom prst="roundRect">
            <a:avLst/>
          </a:prstGeom>
          <a:solidFill>
            <a:srgbClr val="1E698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CBA4939E-703F-71D2-A97F-9661EFFD3DC3}"/>
              </a:ext>
            </a:extLst>
          </p:cNvPr>
          <p:cNvSpPr/>
          <p:nvPr/>
        </p:nvSpPr>
        <p:spPr>
          <a:xfrm>
            <a:off x="283293" y="3241157"/>
            <a:ext cx="8577414" cy="65341"/>
          </a:xfrm>
          <a:prstGeom prst="roundRect">
            <a:avLst/>
          </a:prstGeom>
          <a:solidFill>
            <a:srgbClr val="1E698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DF563634-323B-E05D-CC14-15BB2136FEA3}"/>
              </a:ext>
            </a:extLst>
          </p:cNvPr>
          <p:cNvSpPr/>
          <p:nvPr/>
        </p:nvSpPr>
        <p:spPr>
          <a:xfrm>
            <a:off x="283293" y="4001403"/>
            <a:ext cx="8577414" cy="65341"/>
          </a:xfrm>
          <a:prstGeom prst="roundRect">
            <a:avLst/>
          </a:prstGeom>
          <a:solidFill>
            <a:srgbClr val="1E698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7775"/>
            <a:ext cx="7924800" cy="3286125"/>
          </a:xfrm>
          <a:prstGeom prst="roundRect">
            <a:avLst>
              <a:gd name="adj" fmla="val 22261"/>
            </a:avLst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464829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Распределение клиник на карте</a:t>
            </a:r>
            <a:endParaRPr lang="en-US" sz="2700" dirty="0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B86968A4-13D1-177A-4FBC-5BBF022A5BFB}"/>
              </a:ext>
            </a:extLst>
          </p:cNvPr>
          <p:cNvSpPr/>
          <p:nvPr/>
        </p:nvSpPr>
        <p:spPr>
          <a:xfrm>
            <a:off x="4567286" y="1307790"/>
            <a:ext cx="3967114" cy="3166093"/>
          </a:xfrm>
          <a:prstGeom prst="roundRect">
            <a:avLst>
              <a:gd name="adj" fmla="val 22261"/>
            </a:avLst>
          </a:prstGeom>
          <a:blipFill>
            <a:blip r:embed="rId3"/>
            <a:stretch>
              <a:fillRect/>
            </a:stretch>
          </a:blip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1341B0-9083-F7EA-D2C0-C1639DB34674}"/>
              </a:ext>
            </a:extLst>
          </p:cNvPr>
          <p:cNvSpPr txBox="1"/>
          <p:nvPr/>
        </p:nvSpPr>
        <p:spPr>
          <a:xfrm>
            <a:off x="1219927" y="1486634"/>
            <a:ext cx="27370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 данных на экран</a:t>
            </a:r>
            <a:endParaRPr lang="en-US" dirty="0">
              <a:solidFill>
                <a:srgbClr val="CBD6E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endParaRPr lang="ru-RU" dirty="0"/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ADC05D3D-BF1D-66AC-EE88-8625FD72E95A}"/>
              </a:ext>
            </a:extLst>
          </p:cNvPr>
          <p:cNvSpPr/>
          <p:nvPr/>
        </p:nvSpPr>
        <p:spPr>
          <a:xfrm>
            <a:off x="796648" y="2198609"/>
            <a:ext cx="3280464" cy="1623853"/>
          </a:xfrm>
          <a:prstGeom prst="roundRect">
            <a:avLst>
              <a:gd name="adj" fmla="val 24003"/>
            </a:avLst>
          </a:prstGeom>
          <a:solidFill>
            <a:srgbClr val="0F172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8BB5B4-50EA-E77E-E349-ACFE7EDB37C8}"/>
              </a:ext>
            </a:extLst>
          </p:cNvPr>
          <p:cNvSpPr txBox="1"/>
          <p:nvPr/>
        </p:nvSpPr>
        <p:spPr>
          <a:xfrm>
            <a:off x="904449" y="2271872"/>
            <a:ext cx="317266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37BD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</a:t>
            </a:r>
            <a:r>
              <a:rPr lang="en-GB" dirty="0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pandas </a:t>
            </a:r>
            <a:r>
              <a:rPr lang="en-GB" dirty="0">
                <a:solidFill>
                  <a:srgbClr val="37BD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</a:t>
            </a:r>
            <a:r>
              <a:rPr lang="en-GB" dirty="0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pd</a:t>
            </a:r>
          </a:p>
          <a:p>
            <a:r>
              <a:rPr lang="en-GB" dirty="0">
                <a:solidFill>
                  <a:srgbClr val="37BD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</a:t>
            </a:r>
            <a:r>
              <a:rPr lang="en-GB" dirty="0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GB" dirty="0" err="1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matplotlib.pyplot</a:t>
            </a:r>
            <a:r>
              <a:rPr lang="en-GB" dirty="0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GB" dirty="0">
                <a:solidFill>
                  <a:srgbClr val="37BD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</a:t>
            </a:r>
            <a:r>
              <a:rPr lang="en-GB" dirty="0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GB" dirty="0" err="1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plt</a:t>
            </a:r>
            <a:endParaRPr lang="ru-RU" dirty="0">
              <a:solidFill>
                <a:srgbClr val="CBD6E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endParaRPr lang="ru-RU" dirty="0">
              <a:solidFill>
                <a:srgbClr val="CBD6E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GB" dirty="0" err="1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plt.</a:t>
            </a:r>
            <a:r>
              <a:rPr lang="en-GB" dirty="0" err="1">
                <a:solidFill>
                  <a:srgbClr val="37BD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</a:t>
            </a:r>
            <a:r>
              <a:rPr lang="en-GB" dirty="0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(x,</a:t>
            </a:r>
            <a:r>
              <a:rPr lang="ru-RU" dirty="0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GB" dirty="0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y,</a:t>
            </a:r>
            <a:r>
              <a:rPr lang="ru-RU" dirty="0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GB" dirty="0">
                <a:solidFill>
                  <a:srgbClr val="37BD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s=</a:t>
            </a:r>
            <a:r>
              <a:rPr lang="en-GB" dirty="0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5)</a:t>
            </a:r>
          </a:p>
          <a:p>
            <a:r>
              <a:rPr lang="en-GB" dirty="0" err="1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plt.</a:t>
            </a:r>
            <a:r>
              <a:rPr lang="en-GB" dirty="0" err="1">
                <a:solidFill>
                  <a:srgbClr val="37BD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</a:t>
            </a:r>
            <a:r>
              <a:rPr lang="en-GB" dirty="0">
                <a:solidFill>
                  <a:srgbClr val="CB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()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Подход: KMeans кластеризация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62000" y="1366351"/>
            <a:ext cx="7620000" cy="1323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Начали с классического </a:t>
            </a:r>
            <a:r>
              <a:rPr lang="en-US" sz="16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KMeans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на координатах (x, y)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Разбиваем клиентов на 250 кластеров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Центроиды кластеров = оптимальные позиции клиник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Быстро, интерпретируемо, </a:t>
            </a:r>
            <a:r>
              <a:rPr lang="en-US" sz="16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работает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</a:t>
            </a:r>
            <a:endParaRPr lang="ru-RU" sz="1600" dirty="0">
              <a:solidFill>
                <a:srgbClr val="CBD5E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lnSpc>
                <a:spcPts val="2430"/>
              </a:lnSpc>
              <a:buSzPct val="100000"/>
            </a:pPr>
            <a:r>
              <a:rPr lang="ru-RU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r>
              <a:rPr lang="en-US" sz="16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данных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Северска</a:t>
            </a:r>
            <a:endParaRPr lang="en-US" sz="1600" dirty="0">
              <a:solidFill>
                <a:srgbClr val="CBD5E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27F42AB7-2CF6-531E-1B08-030EF0696507}"/>
              </a:ext>
            </a:extLst>
          </p:cNvPr>
          <p:cNvSpPr/>
          <p:nvPr/>
        </p:nvSpPr>
        <p:spPr>
          <a:xfrm>
            <a:off x="609600" y="3224869"/>
            <a:ext cx="2056358" cy="1762125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3442C4A-93FA-408F-9239-4F3782176799}"/>
              </a:ext>
            </a:extLst>
          </p:cNvPr>
          <p:cNvSpPr/>
          <p:nvPr/>
        </p:nvSpPr>
        <p:spPr>
          <a:xfrm>
            <a:off x="914400" y="3529669"/>
            <a:ext cx="14756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TTT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46FAAA9-DCD0-E7C8-1339-9B0A26536CB5}"/>
              </a:ext>
            </a:extLst>
          </p:cNvPr>
          <p:cNvSpPr/>
          <p:nvPr/>
        </p:nvSpPr>
        <p:spPr>
          <a:xfrm>
            <a:off x="914400" y="3948769"/>
            <a:ext cx="147569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2374.98</a:t>
            </a:r>
            <a:endParaRPr lang="en-US" sz="27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DCC41F8-6C14-39C9-2072-F24B009AF9D0}"/>
              </a:ext>
            </a:extLst>
          </p:cNvPr>
          <p:cNvSpPr/>
          <p:nvPr/>
        </p:nvSpPr>
        <p:spPr>
          <a:xfrm>
            <a:off x="914400" y="4501219"/>
            <a:ext cx="14756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Суммарное время пути</a:t>
            </a:r>
            <a:endParaRPr lang="en-US" sz="1050" dirty="0"/>
          </a:p>
        </p:txBody>
      </p:sp>
      <p:pic>
        <p:nvPicPr>
          <p:cNvPr id="11" name="Рисунок 10" descr="Изображение выглядит как снимок экрана, Красочность, риф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CB739A0-51B3-EA78-3177-37F07C498B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73" t="7303" r="4160" b="12697"/>
          <a:stretch>
            <a:fillRect/>
          </a:stretch>
        </p:blipFill>
        <p:spPr>
          <a:xfrm>
            <a:off x="5720080" y="1493224"/>
            <a:ext cx="3241040" cy="2448560"/>
          </a:xfrm>
          <a:prstGeom prst="rect">
            <a:avLst/>
          </a:prstGeom>
        </p:spPr>
      </p:pic>
      <p:sp>
        <p:nvSpPr>
          <p:cNvPr id="12" name="Text 1">
            <a:extLst>
              <a:ext uri="{FF2B5EF4-FFF2-40B4-BE49-F238E27FC236}">
                <a16:creationId xmlns:a16="http://schemas.microsoft.com/office/drawing/2014/main" id="{D643052E-1827-6CE4-632B-BE917D351481}"/>
              </a:ext>
            </a:extLst>
          </p:cNvPr>
          <p:cNvSpPr/>
          <p:nvPr/>
        </p:nvSpPr>
        <p:spPr>
          <a:xfrm>
            <a:off x="3104875" y="3813218"/>
            <a:ext cx="4678680" cy="657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ru-RU" sz="160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Улучшение с помощью Медиан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ru-RU" sz="160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Улучшение с помощью 2 больших кластеров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19832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Оптимизация</a:t>
            </a:r>
            <a:r>
              <a:rPr lang="ru-RU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700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</a:t>
            </a: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random_state</a:t>
            </a:r>
            <a:endParaRPr lang="en-US" sz="2700" dirty="0"/>
          </a:p>
        </p:txBody>
      </p:sp>
      <p:pic>
        <p:nvPicPr>
          <p:cNvPr id="9" name="Рисунок 8" descr="Изображение выглядит как текст, Шриф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F95E474-8CF1-3DD9-03F0-ABC62DFA8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700" y="3172428"/>
            <a:ext cx="5816600" cy="16129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3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89647D4-906D-627D-C7FB-B483647F2572}"/>
              </a:ext>
            </a:extLst>
          </p:cNvPr>
          <p:cNvSpPr/>
          <p:nvPr/>
        </p:nvSpPr>
        <p:spPr>
          <a:xfrm>
            <a:off x="1663700" y="2943828"/>
            <a:ext cx="5816600" cy="985520"/>
          </a:xfrm>
          <a:prstGeom prst="rect">
            <a:avLst/>
          </a:prstGeom>
          <a:gradFill>
            <a:gsLst>
              <a:gs pos="92000">
                <a:srgbClr val="1E1E1E"/>
              </a:gs>
              <a:gs pos="0">
                <a:srgbClr val="0F172A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609600" y="1437592"/>
            <a:ext cx="7620000" cy="2028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430"/>
              </a:lnSpc>
              <a:buSzPct val="100000"/>
            </a:pPr>
            <a:r>
              <a:rPr lang="en-US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KMeans</a:t>
            </a:r>
            <a:r>
              <a:rPr lang="en-US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зависит от начальной инициализации</a:t>
            </a:r>
            <a:endParaRPr lang="en-US" dirty="0"/>
          </a:p>
          <a:p>
            <a:pPr algn="ctr">
              <a:lnSpc>
                <a:spcPts val="2430"/>
              </a:lnSpc>
              <a:buSzPct val="100000"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Запустили </a:t>
            </a:r>
            <a:r>
              <a:rPr lang="en-US" sz="16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цикл по random_state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от 1 до 100+</a:t>
            </a:r>
            <a:endParaRPr lang="en-US" sz="1600" dirty="0"/>
          </a:p>
          <a:p>
            <a:pPr algn="ctr">
              <a:lnSpc>
                <a:spcPts val="2430"/>
              </a:lnSpc>
              <a:buSzPct val="100000"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запуск считает все метрики (TTT, CO)</a:t>
            </a:r>
            <a:endParaRPr lang="en-US" sz="1500" dirty="0"/>
          </a:p>
          <a:p>
            <a:pPr algn="ctr">
              <a:lnSpc>
                <a:spcPts val="2430"/>
              </a:lnSpc>
              <a:buSzPct val="100000"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Выбираем лучший результат по TTT</a:t>
            </a:r>
            <a:endParaRPr lang="en-US" sz="1400" dirty="0"/>
          </a:p>
          <a:p>
            <a:pPr algn="ctr">
              <a:lnSpc>
                <a:spcPts val="2430"/>
              </a:lnSpc>
              <a:buSzPct val="100000"/>
            </a:pPr>
            <a:r>
              <a:rPr lang="en-US" sz="1300" b="1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</a:t>
            </a:r>
            <a:r>
              <a:rPr lang="en-US" sz="13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2EA855-735B-3CE8-F98E-A2FB87F4D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322B1CE-78E3-585D-4B82-C57CF6CD4D8B}"/>
              </a:ext>
            </a:extLst>
          </p:cNvPr>
          <p:cNvSpPr/>
          <p:nvPr/>
        </p:nvSpPr>
        <p:spPr>
          <a:xfrm>
            <a:off x="530352" y="519832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Оптимизация</a:t>
            </a:r>
            <a:r>
              <a:rPr lang="ru-RU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700" b="1" dirty="0" err="1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</a:t>
            </a: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перемещениям</a:t>
            </a:r>
            <a:endParaRPr lang="en-US" sz="2700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5FCC8B1-5EF4-922A-2124-F66481B3CBF1}"/>
              </a:ext>
            </a:extLst>
          </p:cNvPr>
          <p:cNvSpPr/>
          <p:nvPr/>
        </p:nvSpPr>
        <p:spPr>
          <a:xfrm>
            <a:off x="1663700" y="2943828"/>
            <a:ext cx="5816600" cy="985520"/>
          </a:xfrm>
          <a:prstGeom prst="rect">
            <a:avLst/>
          </a:prstGeom>
          <a:gradFill>
            <a:gsLst>
              <a:gs pos="92000">
                <a:srgbClr val="1E1E1E"/>
              </a:gs>
              <a:gs pos="0">
                <a:srgbClr val="0F172A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6D4D788-FE9C-7DA7-AD20-93D9724F57C3}"/>
              </a:ext>
            </a:extLst>
          </p:cNvPr>
          <p:cNvSpPr/>
          <p:nvPr/>
        </p:nvSpPr>
        <p:spPr>
          <a:xfrm>
            <a:off x="609600" y="1437592"/>
            <a:ext cx="7620000" cy="2028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430"/>
              </a:lnSpc>
              <a:buSzPct val="100000"/>
            </a:pPr>
            <a:r>
              <a:rPr lang="ru-RU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Создан цикл </a:t>
            </a:r>
            <a:r>
              <a:rPr lang="en-GB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for </a:t>
            </a:r>
            <a:r>
              <a:rPr lang="ru-RU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на </a:t>
            </a:r>
            <a:r>
              <a:rPr lang="ru-RU" b="1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250</a:t>
            </a:r>
            <a:r>
              <a:rPr lang="ru-RU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 итераций</a:t>
            </a:r>
            <a:endParaRPr lang="en-US" dirty="0"/>
          </a:p>
          <a:p>
            <a:pPr algn="ctr">
              <a:lnSpc>
                <a:spcPts val="2430"/>
              </a:lnSpc>
              <a:buSzPct val="100000"/>
            </a:pPr>
            <a:r>
              <a:rPr lang="ru-RU" sz="160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Попытался </a:t>
            </a:r>
            <a:r>
              <a:rPr lang="ru-RU" sz="1600" b="1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сдвинуть</a:t>
            </a:r>
            <a:r>
              <a:rPr lang="ru-RU" sz="160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 каждую клинику на </a:t>
            </a:r>
            <a:r>
              <a:rPr lang="en-GB" sz="160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N</a:t>
            </a:r>
            <a:r>
              <a:rPr lang="ru-RU" sz="1600" dirty="0">
                <a:solidFill>
                  <a:srgbClr val="CBD5E1"/>
                </a:solidFill>
                <a:latin typeface="Arial" pitchFamily="34" charset="0"/>
                <a:cs typeface="Arial" pitchFamily="34" charset="-120"/>
              </a:rPr>
              <a:t> в сторону</a:t>
            </a:r>
            <a:endParaRPr lang="en-US" sz="1600" dirty="0"/>
          </a:p>
          <a:p>
            <a:pPr algn="ctr">
              <a:lnSpc>
                <a:spcPts val="2430"/>
              </a:lnSpc>
              <a:buSzPct val="100000"/>
            </a:pPr>
            <a:r>
              <a:rPr lang="ru-RU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Пересчитал </a:t>
            </a:r>
            <a:r>
              <a:rPr lang="ru-RU" sz="15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</a:t>
            </a:r>
            <a:endParaRPr lang="en-US" sz="1500" b="1" dirty="0"/>
          </a:p>
          <a:p>
            <a:pPr algn="ctr">
              <a:lnSpc>
                <a:spcPts val="2430"/>
              </a:lnSpc>
              <a:buSzPct val="100000"/>
            </a:pPr>
            <a:r>
              <a:rPr lang="ru-RU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плохом результате: </a:t>
            </a:r>
            <a:r>
              <a:rPr lang="en-GB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N/2</a:t>
            </a:r>
            <a:endParaRPr lang="en-US" sz="1400" dirty="0"/>
          </a:p>
          <a:p>
            <a:pPr algn="ctr">
              <a:lnSpc>
                <a:spcPts val="2430"/>
              </a:lnSpc>
              <a:buSzPct val="100000"/>
            </a:pPr>
            <a:r>
              <a:rPr lang="en-US" sz="1300" b="1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</a:t>
            </a:r>
            <a:r>
              <a:rPr lang="en-US" sz="13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3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9B9B40B-6220-8AA6-3552-05670F50AE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712"/>
          <a:stretch>
            <a:fillRect/>
          </a:stretch>
        </p:blipFill>
        <p:spPr>
          <a:xfrm>
            <a:off x="1663700" y="3929348"/>
            <a:ext cx="5816600" cy="58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736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 качества решения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41248" y="1328738"/>
            <a:ext cx="7620000" cy="117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Travel Time (TTT)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суммарное время пути всех клиентов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Clinics Overload (CO)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максимальная перегрузка клиники (лимит 1000)</a:t>
            </a:r>
            <a:endParaRPr lang="en-US" sz="160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6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Convenience Score (LCS)</a:t>
            </a: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средняя оценка удобства расположения</a:t>
            </a:r>
            <a:endParaRPr lang="en-US" sz="160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4FFA2E9B-3981-2CF1-E2B7-CCD4C56A4FB3}"/>
              </a:ext>
            </a:extLst>
          </p:cNvPr>
          <p:cNvSpPr/>
          <p:nvPr/>
        </p:nvSpPr>
        <p:spPr>
          <a:xfrm>
            <a:off x="755675" y="2919412"/>
            <a:ext cx="2056358" cy="1762125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BAD6CADF-EDDF-3D2F-417B-58D6D83DCC8D}"/>
              </a:ext>
            </a:extLst>
          </p:cNvPr>
          <p:cNvSpPr/>
          <p:nvPr/>
        </p:nvSpPr>
        <p:spPr>
          <a:xfrm>
            <a:off x="3676300" y="2919412"/>
            <a:ext cx="1768227" cy="1762125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6C6E5A69-558C-810C-22F9-7B17A9F4C664}"/>
              </a:ext>
            </a:extLst>
          </p:cNvPr>
          <p:cNvSpPr/>
          <p:nvPr/>
        </p:nvSpPr>
        <p:spPr>
          <a:xfrm>
            <a:off x="1060475" y="3224212"/>
            <a:ext cx="14756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TTT</a:t>
            </a:r>
            <a:endParaRPr lang="en-US" sz="18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940E7379-8D66-BD7B-E6DC-211838D0F76A}"/>
              </a:ext>
            </a:extLst>
          </p:cNvPr>
          <p:cNvSpPr/>
          <p:nvPr/>
        </p:nvSpPr>
        <p:spPr>
          <a:xfrm>
            <a:off x="1060475" y="3643312"/>
            <a:ext cx="147569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r>
              <a:rPr lang="ru-RU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r>
              <a:rPr lang="ru-RU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27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ECD754BE-0108-D798-8CE6-E3C5EE77D616}"/>
              </a:ext>
            </a:extLst>
          </p:cNvPr>
          <p:cNvSpPr/>
          <p:nvPr/>
        </p:nvSpPr>
        <p:spPr>
          <a:xfrm>
            <a:off x="1060475" y="4195762"/>
            <a:ext cx="14756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Суммарное время пути</a:t>
            </a:r>
            <a:endParaRPr lang="en-US" sz="105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AA4B3C7B-3ED6-8C90-261C-6E8C87198EEB}"/>
              </a:ext>
            </a:extLst>
          </p:cNvPr>
          <p:cNvSpPr/>
          <p:nvPr/>
        </p:nvSpPr>
        <p:spPr>
          <a:xfrm>
            <a:off x="3981100" y="3224212"/>
            <a:ext cx="11817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</a:t>
            </a:r>
            <a:endParaRPr lang="en-US" sz="18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9B302211-E168-E45C-FDC8-9E6E9504BD71}"/>
              </a:ext>
            </a:extLst>
          </p:cNvPr>
          <p:cNvSpPr/>
          <p:nvPr/>
        </p:nvSpPr>
        <p:spPr>
          <a:xfrm>
            <a:off x="3981100" y="3643312"/>
            <a:ext cx="118179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7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14F36358-85E2-97DC-5D5B-36986CA1F380}"/>
              </a:ext>
            </a:extLst>
          </p:cNvPr>
          <p:cNvSpPr/>
          <p:nvPr/>
        </p:nvSpPr>
        <p:spPr>
          <a:xfrm>
            <a:off x="3981100" y="4195762"/>
            <a:ext cx="11817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Перегрузка клиник</a:t>
            </a:r>
            <a:endParaRPr lang="en-US" sz="1050" dirty="0"/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127D8620-2C51-5787-BC3C-D7838E5E2FB8}"/>
              </a:ext>
            </a:extLst>
          </p:cNvPr>
          <p:cNvSpPr/>
          <p:nvPr/>
        </p:nvSpPr>
        <p:spPr>
          <a:xfrm>
            <a:off x="6308794" y="2919412"/>
            <a:ext cx="2056358" cy="1762125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F377C726-D257-6BC0-09DF-BB0D8DF0B5D2}"/>
              </a:ext>
            </a:extLst>
          </p:cNvPr>
          <p:cNvSpPr/>
          <p:nvPr/>
        </p:nvSpPr>
        <p:spPr>
          <a:xfrm>
            <a:off x="6613594" y="3224212"/>
            <a:ext cx="14756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GB" b="1" dirty="0">
                <a:solidFill>
                  <a:srgbClr val="38BDF8"/>
                </a:solidFill>
                <a:latin typeface="Arial" pitchFamily="34" charset="0"/>
                <a:cs typeface="Arial" pitchFamily="34" charset="-120"/>
              </a:rPr>
              <a:t>LCS</a:t>
            </a:r>
            <a:endParaRPr lang="en-US" sz="18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6CECEE39-32BF-083A-9BDB-1D3F66A6562F}"/>
              </a:ext>
            </a:extLst>
          </p:cNvPr>
          <p:cNvSpPr/>
          <p:nvPr/>
        </p:nvSpPr>
        <p:spPr>
          <a:xfrm>
            <a:off x="6613594" y="3643312"/>
            <a:ext cx="147569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780"/>
              </a:lnSpc>
              <a:buNone/>
            </a:pPr>
            <a:r>
              <a:rPr lang="ru-RU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GB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r>
              <a:rPr lang="en-GB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270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73C3075E-BBDC-B901-1366-D7CA0645127F}"/>
              </a:ext>
            </a:extLst>
          </p:cNvPr>
          <p:cNvSpPr/>
          <p:nvPr/>
        </p:nvSpPr>
        <p:spPr>
          <a:xfrm>
            <a:off x="6613594" y="4195762"/>
            <a:ext cx="14756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Суммарное время пути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0E0A93-5FB7-E624-70D5-103BE3CC0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A6289A2-0071-BC16-7942-0F86DFA88B04}"/>
              </a:ext>
            </a:extLst>
          </p:cNvPr>
          <p:cNvSpPr/>
          <p:nvPr/>
        </p:nvSpPr>
        <p:spPr>
          <a:xfrm>
            <a:off x="1915887" y="712560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ru-RU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</a:t>
            </a:r>
            <a:endParaRPr lang="en-US" sz="27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3421D30-A4FB-7E9B-054A-DC90C34A7101}"/>
              </a:ext>
            </a:extLst>
          </p:cNvPr>
          <p:cNvSpPr/>
          <p:nvPr/>
        </p:nvSpPr>
        <p:spPr>
          <a:xfrm>
            <a:off x="707573" y="1378972"/>
            <a:ext cx="4898571" cy="784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  <a:buSzPct val="100000"/>
            </a:pPr>
            <a:r>
              <a:rPr lang="ru-RU" sz="2000" dirty="0">
                <a:solidFill>
                  <a:srgbClr val="CBD6E2"/>
                </a:solidFill>
              </a:rPr>
              <a:t>Команда – </a:t>
            </a:r>
            <a:r>
              <a:rPr lang="en-US" sz="2000" dirty="0" err="1">
                <a:solidFill>
                  <a:srgbClr val="CBD6E2"/>
                </a:solidFill>
              </a:rPr>
              <a:t>Suetolog</a:t>
            </a:r>
            <a:endParaRPr lang="en-US" sz="2000" dirty="0">
              <a:solidFill>
                <a:srgbClr val="CBD6E2"/>
              </a:solidFill>
            </a:endParaRPr>
          </a:p>
          <a:p>
            <a:pPr>
              <a:lnSpc>
                <a:spcPct val="150000"/>
              </a:lnSpc>
              <a:buSzPct val="100000"/>
            </a:pPr>
            <a:r>
              <a:rPr lang="ru-RU" sz="2000" dirty="0">
                <a:solidFill>
                  <a:srgbClr val="CBD6E2"/>
                </a:solidFill>
              </a:rPr>
              <a:t>Состав – Гордиенко Дмитрий</a:t>
            </a:r>
            <a:endParaRPr lang="en-US" sz="2000" dirty="0">
              <a:solidFill>
                <a:srgbClr val="CBD6E2"/>
              </a:solidFill>
            </a:endParaRPr>
          </a:p>
        </p:txBody>
      </p:sp>
      <p:pic>
        <p:nvPicPr>
          <p:cNvPr id="13" name="Рисунок 12" descr="Изображение выглядит как графическая вставка, мультфильм, искусство, иллюстрац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8CB4A41-69F1-E9F8-1806-E3D46BB8D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599" y="951934"/>
            <a:ext cx="3124200" cy="3213100"/>
          </a:xfrm>
          <a:prstGeom prst="rect">
            <a:avLst/>
          </a:prstGeom>
        </p:spPr>
      </p:pic>
      <p:sp>
        <p:nvSpPr>
          <p:cNvPr id="14" name="Text 0">
            <a:extLst>
              <a:ext uri="{FF2B5EF4-FFF2-40B4-BE49-F238E27FC236}">
                <a16:creationId xmlns:a16="http://schemas.microsoft.com/office/drawing/2014/main" id="{54017257-D2ED-7FF9-17F4-4B6B7E751617}"/>
              </a:ext>
            </a:extLst>
          </p:cNvPr>
          <p:cNvSpPr/>
          <p:nvPr/>
        </p:nvSpPr>
        <p:spPr>
          <a:xfrm>
            <a:off x="714579" y="2707709"/>
            <a:ext cx="2056358" cy="1762125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5626BD6B-72DA-7904-79A7-F12DE2DAC346}"/>
              </a:ext>
            </a:extLst>
          </p:cNvPr>
          <p:cNvSpPr/>
          <p:nvPr/>
        </p:nvSpPr>
        <p:spPr>
          <a:xfrm>
            <a:off x="1019379" y="3012509"/>
            <a:ext cx="14756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TTT</a:t>
            </a:r>
            <a:endParaRPr lang="en-US" sz="18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E0F369AE-2036-435C-652A-8B7C3D27204E}"/>
              </a:ext>
            </a:extLst>
          </p:cNvPr>
          <p:cNvSpPr/>
          <p:nvPr/>
        </p:nvSpPr>
        <p:spPr>
          <a:xfrm>
            <a:off x="1019379" y="3431609"/>
            <a:ext cx="147569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r>
              <a:rPr lang="ru-RU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r>
              <a:rPr lang="ru-RU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270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16856AAB-80DB-1910-1CA5-867458275C7D}"/>
              </a:ext>
            </a:extLst>
          </p:cNvPr>
          <p:cNvSpPr/>
          <p:nvPr/>
        </p:nvSpPr>
        <p:spPr>
          <a:xfrm>
            <a:off x="1019379" y="3984059"/>
            <a:ext cx="14756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Суммарное время пути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225837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649</TotalTime>
  <Words>279</Words>
  <Application>Microsoft Macintosh PowerPoint</Application>
  <PresentationFormat>Экран (16:9)</PresentationFormat>
  <Paragraphs>68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Дмитрий</cp:lastModifiedBy>
  <cp:revision>5</cp:revision>
  <dcterms:created xsi:type="dcterms:W3CDTF">2025-12-24T13:31:35Z</dcterms:created>
  <dcterms:modified xsi:type="dcterms:W3CDTF">2025-12-25T06:08:00Z</dcterms:modified>
</cp:coreProperties>
</file>